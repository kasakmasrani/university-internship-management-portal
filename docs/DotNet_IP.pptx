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0"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00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1832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University Internship Management Portal</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357604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Prepared By: Masrani Kasak Atulbhai</a:t>
            </a:r>
            <a:endParaRPr lang="en-US" sz="175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4816578-22DA-123A-E8D4-41B2F7017F54}"/>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38399" y="1000958"/>
            <a:ext cx="5372219" cy="671512"/>
          </a:xfrm>
          <a:prstGeom prst="rect">
            <a:avLst/>
          </a:prstGeom>
          <a:noFill/>
          <a:ln/>
        </p:spPr>
        <p:txBody>
          <a:bodyPr wrap="none" lIns="0" tIns="0" rIns="0" bIns="0" rtlCol="0" anchor="t"/>
          <a:lstStyle/>
          <a:p>
            <a:pPr marL="0" indent="0" algn="l">
              <a:lnSpc>
                <a:spcPts val="5250"/>
              </a:lnSpc>
              <a:buNone/>
            </a:pPr>
            <a:r>
              <a:rPr lang="en-US" sz="4200" b="1" dirty="0">
                <a:solidFill>
                  <a:srgbClr val="000000"/>
                </a:solidFill>
                <a:latin typeface="Times New Roman" panose="02020603050405020304" pitchFamily="18" charset="0"/>
                <a:ea typeface="Inter Bold" pitchFamily="34" charset="-122"/>
                <a:cs typeface="Times New Roman" panose="02020603050405020304" pitchFamily="18" charset="0"/>
              </a:rPr>
              <a:t>Project Overview</a:t>
            </a:r>
            <a:endParaRPr lang="en-US" sz="4200" dirty="0">
              <a:latin typeface="Times New Roman" panose="02020603050405020304" pitchFamily="18" charset="0"/>
              <a:cs typeface="Times New Roman" panose="02020603050405020304" pitchFamily="18" charset="0"/>
            </a:endParaRPr>
          </a:p>
        </p:txBody>
      </p:sp>
      <p:sp>
        <p:nvSpPr>
          <p:cNvPr id="4" name="Text 1"/>
          <p:cNvSpPr/>
          <p:nvPr/>
        </p:nvSpPr>
        <p:spPr>
          <a:xfrm>
            <a:off x="6238399" y="1977747"/>
            <a:ext cx="7640003" cy="1674019"/>
          </a:xfrm>
          <a:prstGeom prst="rect">
            <a:avLst/>
          </a:prstGeom>
          <a:noFill/>
          <a:ln/>
        </p:spPr>
        <p:txBody>
          <a:bodyPr wrap="square" lIns="0" tIns="0" rIns="0" bIns="0" rtlCol="0" anchor="t"/>
          <a:lstStyle/>
          <a:p>
            <a:pPr marL="0" indent="0" algn="l">
              <a:lnSpc>
                <a:spcPts val="26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 comprehensive web-based portal designed to streamline the internship management process for university students, companies, and administrators. The system bridges the gap between academic institutions and industry partners through automated workflows and centralized tracking.</a:t>
            </a:r>
            <a:endParaRPr lang="en-US" dirty="0">
              <a:latin typeface="Times New Roman" panose="02020603050405020304" pitchFamily="18" charset="0"/>
              <a:cs typeface="Times New Roman" panose="02020603050405020304" pitchFamily="18" charset="0"/>
            </a:endParaRPr>
          </a:p>
        </p:txBody>
      </p:sp>
      <p:sp>
        <p:nvSpPr>
          <p:cNvPr id="5" name="Shape 2"/>
          <p:cNvSpPr/>
          <p:nvPr/>
        </p:nvSpPr>
        <p:spPr>
          <a:xfrm>
            <a:off x="6238399" y="3880723"/>
            <a:ext cx="3718203" cy="1907024"/>
          </a:xfrm>
          <a:prstGeom prst="roundRect">
            <a:avLst>
              <a:gd name="adj" fmla="val 4733"/>
            </a:avLst>
          </a:prstGeom>
          <a:solidFill>
            <a:srgbClr val="DADBF1"/>
          </a:solidFill>
          <a:ln w="7620">
            <a:solidFill>
              <a:srgbClr val="C0C1D7"/>
            </a:solidFill>
            <a:prstDash val="solid"/>
          </a:ln>
        </p:spPr>
      </p:sp>
      <p:sp>
        <p:nvSpPr>
          <p:cNvPr id="6" name="Text 3"/>
          <p:cNvSpPr/>
          <p:nvPr/>
        </p:nvSpPr>
        <p:spPr>
          <a:xfrm>
            <a:off x="6460808" y="4103132"/>
            <a:ext cx="3085624"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Technology Foundation</a:t>
            </a:r>
            <a:endParaRPr lang="en-US" sz="2100" dirty="0">
              <a:latin typeface="Times New Roman" panose="02020603050405020304" pitchFamily="18" charset="0"/>
              <a:cs typeface="Times New Roman" panose="02020603050405020304" pitchFamily="18" charset="0"/>
            </a:endParaRPr>
          </a:p>
        </p:txBody>
      </p:sp>
      <p:sp>
        <p:nvSpPr>
          <p:cNvPr id="7" name="Text 4"/>
          <p:cNvSpPr/>
          <p:nvPr/>
        </p:nvSpPr>
        <p:spPr>
          <a:xfrm>
            <a:off x="6460808" y="4560927"/>
            <a:ext cx="3273385" cy="1004411"/>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Built using ASP.NET Core MVC with Clean Architecture principles</a:t>
            </a:r>
            <a:endParaRPr lang="en-US" sz="1650" dirty="0">
              <a:latin typeface="Times New Roman" panose="02020603050405020304" pitchFamily="18" charset="0"/>
              <a:cs typeface="Times New Roman" panose="02020603050405020304" pitchFamily="18" charset="0"/>
            </a:endParaRPr>
          </a:p>
        </p:txBody>
      </p:sp>
      <p:sp>
        <p:nvSpPr>
          <p:cNvPr id="8" name="Shape 5"/>
          <p:cNvSpPr/>
          <p:nvPr/>
        </p:nvSpPr>
        <p:spPr>
          <a:xfrm>
            <a:off x="10160079" y="3880723"/>
            <a:ext cx="3718322" cy="1907024"/>
          </a:xfrm>
          <a:prstGeom prst="roundRect">
            <a:avLst>
              <a:gd name="adj" fmla="val 4733"/>
            </a:avLst>
          </a:prstGeom>
          <a:solidFill>
            <a:srgbClr val="DADBF1"/>
          </a:solidFill>
          <a:ln w="7620">
            <a:solidFill>
              <a:srgbClr val="C0C1D7"/>
            </a:solidFill>
            <a:prstDash val="solid"/>
          </a:ln>
        </p:spPr>
      </p:sp>
      <p:sp>
        <p:nvSpPr>
          <p:cNvPr id="9" name="Text 6"/>
          <p:cNvSpPr/>
          <p:nvPr/>
        </p:nvSpPr>
        <p:spPr>
          <a:xfrm>
            <a:off x="10382488" y="4103132"/>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Core Functionality</a:t>
            </a:r>
            <a:endParaRPr lang="en-US" sz="2100" dirty="0">
              <a:latin typeface="Times New Roman" panose="02020603050405020304" pitchFamily="18" charset="0"/>
              <a:cs typeface="Times New Roman" panose="02020603050405020304" pitchFamily="18" charset="0"/>
            </a:endParaRPr>
          </a:p>
        </p:txBody>
      </p:sp>
      <p:sp>
        <p:nvSpPr>
          <p:cNvPr id="10" name="Text 7"/>
          <p:cNvSpPr/>
          <p:nvPr/>
        </p:nvSpPr>
        <p:spPr>
          <a:xfrm>
            <a:off x="10382488" y="4560927"/>
            <a:ext cx="3273504" cy="1004411"/>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Student login, internship listings, application tracking, and admin dashboard</a:t>
            </a:r>
            <a:endParaRPr lang="en-US" sz="1650" dirty="0">
              <a:latin typeface="Times New Roman" panose="02020603050405020304" pitchFamily="18" charset="0"/>
              <a:cs typeface="Times New Roman" panose="02020603050405020304" pitchFamily="18" charset="0"/>
            </a:endParaRPr>
          </a:p>
        </p:txBody>
      </p:sp>
      <p:sp>
        <p:nvSpPr>
          <p:cNvPr id="11" name="Shape 8"/>
          <p:cNvSpPr/>
          <p:nvPr/>
        </p:nvSpPr>
        <p:spPr>
          <a:xfrm>
            <a:off x="6238399" y="5991225"/>
            <a:ext cx="7640003" cy="1237417"/>
          </a:xfrm>
          <a:prstGeom prst="roundRect">
            <a:avLst>
              <a:gd name="adj" fmla="val 7294"/>
            </a:avLst>
          </a:prstGeom>
          <a:solidFill>
            <a:srgbClr val="DADBF1"/>
          </a:solidFill>
          <a:ln w="7620">
            <a:solidFill>
              <a:srgbClr val="C0C1D7"/>
            </a:solidFill>
            <a:prstDash val="solid"/>
          </a:ln>
        </p:spPr>
      </p:sp>
      <p:sp>
        <p:nvSpPr>
          <p:cNvPr id="12" name="Text 9"/>
          <p:cNvSpPr/>
          <p:nvPr/>
        </p:nvSpPr>
        <p:spPr>
          <a:xfrm>
            <a:off x="6460808" y="6213634"/>
            <a:ext cx="2686050" cy="335756"/>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Architectural Layers</a:t>
            </a:r>
            <a:endParaRPr lang="en-US" sz="2100" dirty="0">
              <a:latin typeface="Times New Roman" panose="02020603050405020304" pitchFamily="18" charset="0"/>
              <a:cs typeface="Times New Roman" panose="02020603050405020304" pitchFamily="18" charset="0"/>
            </a:endParaRPr>
          </a:p>
        </p:txBody>
      </p:sp>
      <p:sp>
        <p:nvSpPr>
          <p:cNvPr id="13" name="Text 10"/>
          <p:cNvSpPr/>
          <p:nvPr/>
        </p:nvSpPr>
        <p:spPr>
          <a:xfrm>
            <a:off x="6460808" y="6671429"/>
            <a:ext cx="7195185" cy="334804"/>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Domain, Application, Infrastructure, and API layers for maintainability</a:t>
            </a:r>
            <a:endParaRPr lang="en-US" sz="1650"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7B93F76B-70C1-B395-6831-1A659FA640AB}"/>
              </a:ext>
            </a:extLst>
          </p:cNvPr>
          <p:cNvSpPr/>
          <p:nvPr/>
        </p:nvSpPr>
        <p:spPr>
          <a:xfrm>
            <a:off x="0" y="7791930"/>
            <a:ext cx="14630400" cy="39353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5DF21ED8-6E9F-69FD-7A9A-42E486973682}"/>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6395" y="757118"/>
            <a:ext cx="9776579" cy="612815"/>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Times New Roman" panose="02020603050405020304" pitchFamily="18" charset="0"/>
                <a:ea typeface="Inter Bold" pitchFamily="34" charset="-122"/>
                <a:cs typeface="Times New Roman" panose="02020603050405020304" pitchFamily="18" charset="0"/>
              </a:rPr>
              <a:t>System Architecture &amp; Technology Stack</a:t>
            </a:r>
            <a:endParaRPr lang="en-US" sz="385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6395" y="1709023"/>
            <a:ext cx="490299" cy="490299"/>
          </a:xfrm>
          <a:prstGeom prst="rect">
            <a:avLst/>
          </a:prstGeom>
        </p:spPr>
      </p:pic>
      <p:sp>
        <p:nvSpPr>
          <p:cNvPr id="4" name="Text 1"/>
          <p:cNvSpPr/>
          <p:nvPr/>
        </p:nvSpPr>
        <p:spPr>
          <a:xfrm>
            <a:off x="686395" y="2411254"/>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Frontend Layer</a:t>
            </a:r>
            <a:endParaRPr lang="en-US" sz="1900" dirty="0">
              <a:latin typeface="Times New Roman" panose="02020603050405020304" pitchFamily="18" charset="0"/>
              <a:cs typeface="Times New Roman" panose="02020603050405020304" pitchFamily="18" charset="0"/>
            </a:endParaRPr>
          </a:p>
        </p:txBody>
      </p:sp>
      <p:sp>
        <p:nvSpPr>
          <p:cNvPr id="5" name="Text 2"/>
          <p:cNvSpPr/>
          <p:nvPr/>
        </p:nvSpPr>
        <p:spPr>
          <a:xfrm>
            <a:off x="686395" y="2819281"/>
            <a:ext cx="6522839" cy="584835"/>
          </a:xfrm>
          <a:prstGeom prst="rect">
            <a:avLst/>
          </a:prstGeom>
          <a:noFill/>
          <a:ln/>
        </p:spPr>
        <p:txBody>
          <a:bodyPr wrap="square" lIns="0" tIns="0" rIns="0" bIns="0" rtlCol="0" anchor="t"/>
          <a:lstStyle/>
          <a:p>
            <a:pPr marL="0" indent="0" algn="l">
              <a:lnSpc>
                <a:spcPts val="23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Razor Views with HTML, CSS, and Bootstrap framework for responsive design</a:t>
            </a:r>
            <a:endParaRPr lang="en-US" sz="15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21166" y="1709023"/>
            <a:ext cx="490299" cy="490299"/>
          </a:xfrm>
          <a:prstGeom prst="rect">
            <a:avLst/>
          </a:prstGeom>
        </p:spPr>
      </p:pic>
      <p:sp>
        <p:nvSpPr>
          <p:cNvPr id="7" name="Text 3"/>
          <p:cNvSpPr/>
          <p:nvPr/>
        </p:nvSpPr>
        <p:spPr>
          <a:xfrm>
            <a:off x="7421166" y="2411254"/>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Backend Framework</a:t>
            </a:r>
            <a:endParaRPr lang="en-US" sz="1900" dirty="0">
              <a:latin typeface="Times New Roman" panose="02020603050405020304" pitchFamily="18" charset="0"/>
              <a:cs typeface="Times New Roman" panose="02020603050405020304" pitchFamily="18" charset="0"/>
            </a:endParaRPr>
          </a:p>
        </p:txBody>
      </p:sp>
      <p:sp>
        <p:nvSpPr>
          <p:cNvPr id="8" name="Text 4"/>
          <p:cNvSpPr/>
          <p:nvPr/>
        </p:nvSpPr>
        <p:spPr>
          <a:xfrm>
            <a:off x="7421166" y="2819281"/>
            <a:ext cx="6522839" cy="584835"/>
          </a:xfrm>
          <a:prstGeom prst="rect">
            <a:avLst/>
          </a:prstGeom>
          <a:noFill/>
          <a:ln/>
        </p:spPr>
        <p:txBody>
          <a:bodyPr wrap="square" lIns="0" tIns="0" rIns="0" bIns="0" rtlCol="0" anchor="t"/>
          <a:lstStyle/>
          <a:p>
            <a:pPr marL="0" indent="0" algn="l">
              <a:lnSpc>
                <a:spcPts val="23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ASP.NET Core MVC built on .NET 8 runtime for high-performance processing</a:t>
            </a:r>
            <a:endParaRPr lang="en-US" sz="15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6395" y="3743206"/>
            <a:ext cx="490299" cy="490299"/>
          </a:xfrm>
          <a:prstGeom prst="rect">
            <a:avLst/>
          </a:prstGeom>
        </p:spPr>
      </p:pic>
      <p:sp>
        <p:nvSpPr>
          <p:cNvPr id="10" name="Text 5"/>
          <p:cNvSpPr/>
          <p:nvPr/>
        </p:nvSpPr>
        <p:spPr>
          <a:xfrm>
            <a:off x="686395" y="4445437"/>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Architecture Pattern</a:t>
            </a:r>
            <a:endParaRPr lang="en-US" sz="1900" dirty="0">
              <a:latin typeface="Times New Roman" panose="02020603050405020304" pitchFamily="18" charset="0"/>
              <a:cs typeface="Times New Roman" panose="02020603050405020304" pitchFamily="18" charset="0"/>
            </a:endParaRPr>
          </a:p>
        </p:txBody>
      </p:sp>
      <p:sp>
        <p:nvSpPr>
          <p:cNvPr id="11" name="Text 6"/>
          <p:cNvSpPr/>
          <p:nvPr/>
        </p:nvSpPr>
        <p:spPr>
          <a:xfrm>
            <a:off x="686395" y="4853464"/>
            <a:ext cx="6522839" cy="584835"/>
          </a:xfrm>
          <a:prstGeom prst="rect">
            <a:avLst/>
          </a:prstGeom>
          <a:noFill/>
          <a:ln/>
        </p:spPr>
        <p:txBody>
          <a:bodyPr wrap="square" lIns="0" tIns="0" rIns="0" bIns="0" rtlCol="0" anchor="t"/>
          <a:lstStyle/>
          <a:p>
            <a:pPr marL="0" indent="0" algn="l">
              <a:lnSpc>
                <a:spcPts val="23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Clean Architecture enforcing separation of concerns across four distinct layers</a:t>
            </a:r>
            <a:endParaRPr lang="en-US" sz="1500"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21166" y="3743206"/>
            <a:ext cx="490299" cy="490299"/>
          </a:xfrm>
          <a:prstGeom prst="rect">
            <a:avLst/>
          </a:prstGeom>
        </p:spPr>
      </p:pic>
      <p:sp>
        <p:nvSpPr>
          <p:cNvPr id="13" name="Text 7"/>
          <p:cNvSpPr/>
          <p:nvPr/>
        </p:nvSpPr>
        <p:spPr>
          <a:xfrm>
            <a:off x="7421166" y="4445437"/>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Data Access</a:t>
            </a:r>
            <a:endParaRPr lang="en-US" sz="1900" dirty="0">
              <a:latin typeface="Times New Roman" panose="02020603050405020304" pitchFamily="18" charset="0"/>
              <a:cs typeface="Times New Roman" panose="02020603050405020304" pitchFamily="18" charset="0"/>
            </a:endParaRPr>
          </a:p>
        </p:txBody>
      </p:sp>
      <p:sp>
        <p:nvSpPr>
          <p:cNvPr id="14" name="Text 8"/>
          <p:cNvSpPr/>
          <p:nvPr/>
        </p:nvSpPr>
        <p:spPr>
          <a:xfrm>
            <a:off x="7421166" y="4853464"/>
            <a:ext cx="6522839" cy="584835"/>
          </a:xfrm>
          <a:prstGeom prst="rect">
            <a:avLst/>
          </a:prstGeom>
          <a:noFill/>
          <a:ln/>
        </p:spPr>
        <p:txBody>
          <a:bodyPr wrap="square" lIns="0" tIns="0" rIns="0" bIns="0" rtlCol="0" anchor="t"/>
          <a:lstStyle/>
          <a:p>
            <a:pPr marL="0" indent="0" algn="l">
              <a:lnSpc>
                <a:spcPts val="2300"/>
              </a:lnSpc>
              <a:buNone/>
            </a:pPr>
            <a:r>
              <a:rPr lang="en-US" sz="1500" dirty="0">
                <a:latin typeface="Times New Roman" panose="02020603050405020304" pitchFamily="18" charset="0"/>
                <a:cs typeface="Times New Roman" panose="02020603050405020304" pitchFamily="18" charset="0"/>
              </a:rPr>
              <a:t>In-memory data is stored in repository.</a:t>
            </a:r>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6395" y="5777389"/>
            <a:ext cx="490299" cy="490299"/>
          </a:xfrm>
          <a:prstGeom prst="rect">
            <a:avLst/>
          </a:prstGeom>
        </p:spPr>
      </p:pic>
      <p:sp>
        <p:nvSpPr>
          <p:cNvPr id="16" name="Text 9"/>
          <p:cNvSpPr/>
          <p:nvPr/>
        </p:nvSpPr>
        <p:spPr>
          <a:xfrm>
            <a:off x="686395" y="6479619"/>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Security</a:t>
            </a:r>
            <a:endParaRPr lang="en-US" sz="1900" dirty="0">
              <a:latin typeface="Times New Roman" panose="02020603050405020304" pitchFamily="18" charset="0"/>
              <a:cs typeface="Times New Roman" panose="02020603050405020304" pitchFamily="18" charset="0"/>
            </a:endParaRPr>
          </a:p>
        </p:txBody>
      </p:sp>
      <p:sp>
        <p:nvSpPr>
          <p:cNvPr id="17" name="Text 10"/>
          <p:cNvSpPr/>
          <p:nvPr/>
        </p:nvSpPr>
        <p:spPr>
          <a:xfrm>
            <a:off x="686395" y="6887647"/>
            <a:ext cx="6522839" cy="584835"/>
          </a:xfrm>
          <a:prstGeom prst="rect">
            <a:avLst/>
          </a:prstGeom>
          <a:noFill/>
          <a:ln/>
        </p:spPr>
        <p:txBody>
          <a:bodyPr wrap="square" lIns="0" tIns="0" rIns="0" bIns="0" rtlCol="0" anchor="t"/>
          <a:lstStyle/>
          <a:p>
            <a:pPr marL="0" indent="0" algn="l">
              <a:lnSpc>
                <a:spcPts val="23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ASP.NET Identity for secure authentication and role-based authorization</a:t>
            </a:r>
            <a:endParaRPr lang="en-US" sz="1500" dirty="0">
              <a:latin typeface="Times New Roman" panose="02020603050405020304" pitchFamily="18" charset="0"/>
              <a:cs typeface="Times New Roman" panose="02020603050405020304" pitchFamily="18" charset="0"/>
            </a:endParaRPr>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21166" y="5777389"/>
            <a:ext cx="490299" cy="490299"/>
          </a:xfrm>
          <a:prstGeom prst="rect">
            <a:avLst/>
          </a:prstGeom>
        </p:spPr>
      </p:pic>
      <p:sp>
        <p:nvSpPr>
          <p:cNvPr id="19" name="Text 11"/>
          <p:cNvSpPr/>
          <p:nvPr/>
        </p:nvSpPr>
        <p:spPr>
          <a:xfrm>
            <a:off x="7421166" y="6479619"/>
            <a:ext cx="2451616" cy="30634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API Design</a:t>
            </a:r>
            <a:endParaRPr lang="en-US" sz="1900" dirty="0">
              <a:latin typeface="Times New Roman" panose="02020603050405020304" pitchFamily="18" charset="0"/>
              <a:cs typeface="Times New Roman" panose="02020603050405020304" pitchFamily="18" charset="0"/>
            </a:endParaRPr>
          </a:p>
        </p:txBody>
      </p:sp>
      <p:sp>
        <p:nvSpPr>
          <p:cNvPr id="20" name="Text 12"/>
          <p:cNvSpPr/>
          <p:nvPr/>
        </p:nvSpPr>
        <p:spPr>
          <a:xfrm>
            <a:off x="7421166" y="6887647"/>
            <a:ext cx="6522839" cy="292418"/>
          </a:xfrm>
          <a:prstGeom prst="rect">
            <a:avLst/>
          </a:prstGeom>
          <a:noFill/>
          <a:ln/>
        </p:spPr>
        <p:txBody>
          <a:bodyPr wrap="none" lIns="0" tIns="0" rIns="0" bIns="0" rtlCol="0" anchor="t"/>
          <a:lstStyle/>
          <a:p>
            <a:pPr marL="0" indent="0" algn="l">
              <a:lnSpc>
                <a:spcPts val="23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RESTful Controllers providing structured endpoints for data exchange</a:t>
            </a:r>
            <a:endParaRPr lang="en-US" sz="1500"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7BAE34D5-FA21-9717-21FA-30BE4F22EED5}"/>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68881" y="467001"/>
            <a:ext cx="4769882" cy="507921"/>
          </a:xfrm>
          <a:prstGeom prst="rect">
            <a:avLst/>
          </a:prstGeom>
          <a:noFill/>
          <a:ln/>
        </p:spPr>
        <p:txBody>
          <a:bodyPr wrap="none" lIns="0" tIns="0" rIns="0" bIns="0" rtlCol="0" anchor="t"/>
          <a:lstStyle/>
          <a:p>
            <a:pPr marL="0" indent="0" algn="l">
              <a:lnSpc>
                <a:spcPts val="3950"/>
              </a:lnSpc>
              <a:buNone/>
            </a:pPr>
            <a:r>
              <a:rPr lang="en-US" sz="3150" b="1" dirty="0">
                <a:solidFill>
                  <a:srgbClr val="000000"/>
                </a:solidFill>
                <a:latin typeface="Times New Roman" panose="02020603050405020304" pitchFamily="18" charset="0"/>
                <a:ea typeface="Inter Bold" pitchFamily="34" charset="-122"/>
                <a:cs typeface="Times New Roman" panose="02020603050405020304" pitchFamily="18" charset="0"/>
              </a:rPr>
              <a:t>Key Features &amp; Modules</a:t>
            </a:r>
            <a:endParaRPr lang="en-US" sz="3150" dirty="0">
              <a:latin typeface="Times New Roman" panose="02020603050405020304" pitchFamily="18" charset="0"/>
              <a:cs typeface="Times New Roman" panose="02020603050405020304" pitchFamily="18" charset="0"/>
            </a:endParaRPr>
          </a:p>
        </p:txBody>
      </p:sp>
      <p:sp>
        <p:nvSpPr>
          <p:cNvPr id="4" name="Text 1"/>
          <p:cNvSpPr/>
          <p:nvPr/>
        </p:nvSpPr>
        <p:spPr>
          <a:xfrm>
            <a:off x="568881" y="1224994"/>
            <a:ext cx="2438281" cy="304800"/>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Times New Roman" panose="02020603050405020304" pitchFamily="18" charset="0"/>
                <a:ea typeface="Inter Bold" pitchFamily="34" charset="-122"/>
                <a:cs typeface="Times New Roman" panose="02020603050405020304" pitchFamily="18" charset="0"/>
              </a:rPr>
              <a:t>Student Module</a:t>
            </a:r>
            <a:endParaRPr lang="en-US" sz="1900" dirty="0">
              <a:latin typeface="Times New Roman" panose="02020603050405020304" pitchFamily="18" charset="0"/>
              <a:cs typeface="Times New Roman" panose="02020603050405020304" pitchFamily="18" charset="0"/>
            </a:endParaRPr>
          </a:p>
        </p:txBody>
      </p:sp>
      <p:sp>
        <p:nvSpPr>
          <p:cNvPr id="5" name="Text 2"/>
          <p:cNvSpPr/>
          <p:nvPr/>
        </p:nvSpPr>
        <p:spPr>
          <a:xfrm>
            <a:off x="523518" y="1808081"/>
            <a:ext cx="3804880" cy="2405103"/>
          </a:xfrm>
          <a:prstGeom prst="rect">
            <a:avLst/>
          </a:prstGeom>
          <a:noFill/>
          <a:ln/>
        </p:spPr>
        <p:txBody>
          <a:bodyPr wrap="square" lIns="0" tIns="0" rIns="0" bIns="0" rtlCol="0" anchor="t"/>
          <a:lstStyle/>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Secure account login.</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Comprehensive internship listing.</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Application submission</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Personalized dashboard showing application status</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4815602" y="1246243"/>
            <a:ext cx="3144322" cy="304800"/>
          </a:xfrm>
          <a:prstGeom prst="rect">
            <a:avLst/>
          </a:prstGeom>
          <a:noFill/>
          <a:ln/>
        </p:spPr>
        <p:txBody>
          <a:bodyPr wrap="none" lIns="0" tIns="0" rIns="0" bIns="0" rtlCol="0" anchor="t"/>
          <a:lstStyle/>
          <a:p>
            <a:pPr marL="0" indent="0" algn="l">
              <a:lnSpc>
                <a:spcPts val="2350"/>
              </a:lnSpc>
              <a:buNone/>
            </a:pPr>
            <a:r>
              <a:rPr lang="en-US" sz="1900" b="1" dirty="0">
                <a:solidFill>
                  <a:srgbClr val="000000"/>
                </a:solidFill>
                <a:latin typeface="Times New Roman" panose="02020603050405020304" pitchFamily="18" charset="0"/>
                <a:ea typeface="Inter Bold" pitchFamily="34" charset="-122"/>
                <a:cs typeface="Times New Roman" panose="02020603050405020304" pitchFamily="18" charset="0"/>
              </a:rPr>
              <a:t>Faculty &amp; Company Module</a:t>
            </a:r>
            <a:endParaRPr lang="en-US" sz="1900" dirty="0">
              <a:latin typeface="Times New Roman" panose="02020603050405020304" pitchFamily="18" charset="0"/>
              <a:cs typeface="Times New Roman" panose="02020603050405020304" pitchFamily="18" charset="0"/>
            </a:endParaRPr>
          </a:p>
        </p:txBody>
      </p:sp>
      <p:sp>
        <p:nvSpPr>
          <p:cNvPr id="7" name="Text 4"/>
          <p:cNvSpPr/>
          <p:nvPr/>
        </p:nvSpPr>
        <p:spPr>
          <a:xfrm>
            <a:off x="4641797" y="1788200"/>
            <a:ext cx="3804880" cy="2326600"/>
          </a:xfrm>
          <a:prstGeom prst="rect">
            <a:avLst/>
          </a:prstGeom>
          <a:noFill/>
          <a:ln/>
        </p:spPr>
        <p:txBody>
          <a:bodyPr wrap="square" lIns="0" tIns="0" rIns="0" bIns="0" rtlCol="0" anchor="t"/>
          <a:lstStyle/>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Create and manage internship openings with requirements</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View applicant pool efficiently</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Application review and selection workflows</a:t>
            </a:r>
            <a:endParaRPr lang="en-US" dirty="0">
              <a:latin typeface="Times New Roman" panose="02020603050405020304" pitchFamily="18" charset="0"/>
              <a:cs typeface="Times New Roman" panose="02020603050405020304" pitchFamily="18" charset="0"/>
            </a:endParaRPr>
          </a:p>
          <a:p>
            <a:pPr marL="342900" indent="-342900" algn="l">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Analytics dashboard for posting performance</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568881" y="4114800"/>
            <a:ext cx="3944898" cy="1591271"/>
          </a:xfrm>
          <a:prstGeom prst="roundRect">
            <a:avLst>
              <a:gd name="adj" fmla="val 5984"/>
            </a:avLst>
          </a:prstGeom>
          <a:solidFill>
            <a:srgbClr val="FFFFFF"/>
          </a:solidFill>
          <a:ln w="22860">
            <a:solidFill>
              <a:srgbClr val="C0C1D7"/>
            </a:solidFill>
            <a:prstDash val="solid"/>
          </a:ln>
        </p:spPr>
      </p:sp>
      <p:sp>
        <p:nvSpPr>
          <p:cNvPr id="9" name="Text 6"/>
          <p:cNvSpPr/>
          <p:nvPr/>
        </p:nvSpPr>
        <p:spPr>
          <a:xfrm>
            <a:off x="754261" y="4364491"/>
            <a:ext cx="2705457" cy="253960"/>
          </a:xfrm>
          <a:prstGeom prst="rect">
            <a:avLst/>
          </a:prstGeom>
          <a:noFill/>
          <a:ln/>
        </p:spPr>
        <p:txBody>
          <a:bodyPr wrap="none" lIns="0" tIns="0" rIns="0" bIns="0" rtlCol="0" anchor="t"/>
          <a:lstStyle/>
          <a:p>
            <a:pPr marL="0" indent="0" algn="l">
              <a:lnSpc>
                <a:spcPts val="19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Role-Based Access Control</a:t>
            </a:r>
            <a:endParaRPr lang="en-US" sz="2400" dirty="0">
              <a:latin typeface="Times New Roman" panose="02020603050405020304" pitchFamily="18" charset="0"/>
              <a:cs typeface="Times New Roman" panose="02020603050405020304" pitchFamily="18" charset="0"/>
            </a:endParaRPr>
          </a:p>
        </p:txBody>
      </p:sp>
      <p:sp>
        <p:nvSpPr>
          <p:cNvPr id="10" name="Text 7"/>
          <p:cNvSpPr/>
          <p:nvPr/>
        </p:nvSpPr>
        <p:spPr>
          <a:xfrm>
            <a:off x="754261" y="4741842"/>
            <a:ext cx="3574137" cy="778848"/>
          </a:xfrm>
          <a:prstGeom prst="rect">
            <a:avLst/>
          </a:prstGeom>
          <a:noFill/>
          <a:ln/>
        </p:spPr>
        <p:txBody>
          <a:bodyPr wrap="square" lIns="0" tIns="0" rIns="0" bIns="0" rtlCol="0" anchor="t"/>
          <a:lstStyle/>
          <a:p>
            <a:pPr marL="0" indent="0" algn="l">
              <a:lnSpc>
                <a:spcPts val="17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Secure authentication system with granular permission management</a:t>
            </a:r>
            <a:endParaRPr lang="en-US" dirty="0">
              <a:latin typeface="Times New Roman" panose="02020603050405020304" pitchFamily="18" charset="0"/>
              <a:cs typeface="Times New Roman" panose="02020603050405020304" pitchFamily="18" charset="0"/>
            </a:endParaRPr>
          </a:p>
        </p:txBody>
      </p:sp>
      <p:sp>
        <p:nvSpPr>
          <p:cNvPr id="11" name="Shape 8"/>
          <p:cNvSpPr/>
          <p:nvPr/>
        </p:nvSpPr>
        <p:spPr>
          <a:xfrm>
            <a:off x="4630222" y="4114801"/>
            <a:ext cx="3944898" cy="1591270"/>
          </a:xfrm>
          <a:prstGeom prst="roundRect">
            <a:avLst>
              <a:gd name="adj" fmla="val 5984"/>
            </a:avLst>
          </a:prstGeom>
          <a:solidFill>
            <a:srgbClr val="FFFFFF"/>
          </a:solidFill>
          <a:ln w="22860">
            <a:solidFill>
              <a:srgbClr val="C0C1D7"/>
            </a:solidFill>
            <a:prstDash val="solid"/>
          </a:ln>
        </p:spPr>
      </p:sp>
      <p:sp>
        <p:nvSpPr>
          <p:cNvPr id="12" name="Text 9"/>
          <p:cNvSpPr/>
          <p:nvPr/>
        </p:nvSpPr>
        <p:spPr>
          <a:xfrm>
            <a:off x="4815602" y="4340663"/>
            <a:ext cx="2031921" cy="253960"/>
          </a:xfrm>
          <a:prstGeom prst="rect">
            <a:avLst/>
          </a:prstGeom>
          <a:noFill/>
          <a:ln/>
        </p:spPr>
        <p:txBody>
          <a:bodyPr wrap="none" lIns="0" tIns="0" rIns="0" bIns="0" rtlCol="0" anchor="t"/>
          <a:lstStyle/>
          <a:p>
            <a:pPr marL="0" indent="0" algn="l">
              <a:lnSpc>
                <a:spcPts val="19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CRUD Operations</a:t>
            </a:r>
            <a:endParaRPr lang="en-US" sz="2400" dirty="0">
              <a:latin typeface="Times New Roman" panose="02020603050405020304" pitchFamily="18" charset="0"/>
              <a:cs typeface="Times New Roman" panose="02020603050405020304" pitchFamily="18" charset="0"/>
            </a:endParaRPr>
          </a:p>
        </p:txBody>
      </p:sp>
      <p:sp>
        <p:nvSpPr>
          <p:cNvPr id="13" name="Text 10"/>
          <p:cNvSpPr/>
          <p:nvPr/>
        </p:nvSpPr>
        <p:spPr>
          <a:xfrm>
            <a:off x="4815602" y="4711065"/>
            <a:ext cx="3574137" cy="926068"/>
          </a:xfrm>
          <a:prstGeom prst="rect">
            <a:avLst/>
          </a:prstGeom>
          <a:noFill/>
          <a:ln/>
        </p:spPr>
        <p:txBody>
          <a:bodyPr wrap="square" lIns="0" tIns="0" rIns="0" bIns="0" rtlCol="0" anchor="t"/>
          <a:lstStyle/>
          <a:p>
            <a:pPr marL="0" indent="0" algn="l">
              <a:lnSpc>
                <a:spcPts val="17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Complete create, read, update, and delete functionality for all entities</a:t>
            </a:r>
            <a:endParaRPr lang="en-US"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DC74E241-69E6-82E0-1F75-F22D0F0CBC6A}"/>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666" y="644723"/>
            <a:ext cx="7684175" cy="677466"/>
          </a:xfrm>
          <a:prstGeom prst="rect">
            <a:avLst/>
          </a:prstGeom>
          <a:noFill/>
          <a:ln/>
        </p:spPr>
        <p:txBody>
          <a:bodyPr wrap="none" lIns="0" tIns="0" rIns="0" bIns="0" rtlCol="0" anchor="t"/>
          <a:lstStyle/>
          <a:p>
            <a:pPr marL="0" indent="0" algn="l">
              <a:lnSpc>
                <a:spcPts val="5300"/>
              </a:lnSpc>
              <a:buNone/>
            </a:pPr>
            <a:r>
              <a:rPr lang="en-US" sz="4250" b="1" dirty="0">
                <a:solidFill>
                  <a:srgbClr val="000000"/>
                </a:solidFill>
                <a:latin typeface="Times New Roman" panose="02020603050405020304" pitchFamily="18" charset="0"/>
                <a:ea typeface="Inter Bold" pitchFamily="34" charset="-122"/>
                <a:cs typeface="Times New Roman" panose="02020603050405020304" pitchFamily="18" charset="0"/>
              </a:rPr>
              <a:t>Project Outcome &amp; Learnings</a:t>
            </a:r>
            <a:endParaRPr lang="en-US" sz="4250" dirty="0">
              <a:latin typeface="Times New Roman" panose="02020603050405020304" pitchFamily="18" charset="0"/>
              <a:cs typeface="Times New Roman" panose="02020603050405020304" pitchFamily="18" charset="0"/>
            </a:endParaRPr>
          </a:p>
        </p:txBody>
      </p:sp>
      <p:sp>
        <p:nvSpPr>
          <p:cNvPr id="3" name="Text 1"/>
          <p:cNvSpPr/>
          <p:nvPr/>
        </p:nvSpPr>
        <p:spPr>
          <a:xfrm>
            <a:off x="758666" y="1736527"/>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01</a:t>
            </a:r>
            <a:endParaRPr lang="en-US" sz="1700" dirty="0">
              <a:latin typeface="Times New Roman" panose="02020603050405020304" pitchFamily="18" charset="0"/>
              <a:cs typeface="Times New Roman" panose="02020603050405020304" pitchFamily="18" charset="0"/>
            </a:endParaRPr>
          </a:p>
        </p:txBody>
      </p:sp>
      <p:sp>
        <p:nvSpPr>
          <p:cNvPr id="4" name="Shape 2"/>
          <p:cNvSpPr/>
          <p:nvPr/>
        </p:nvSpPr>
        <p:spPr>
          <a:xfrm>
            <a:off x="758666" y="2074545"/>
            <a:ext cx="6452949" cy="30480"/>
          </a:xfrm>
          <a:prstGeom prst="rect">
            <a:avLst/>
          </a:prstGeom>
          <a:solidFill>
            <a:srgbClr val="4950BC"/>
          </a:solidFill>
          <a:ln/>
        </p:spPr>
      </p:sp>
      <p:sp>
        <p:nvSpPr>
          <p:cNvPr id="5" name="Text 3"/>
          <p:cNvSpPr/>
          <p:nvPr/>
        </p:nvSpPr>
        <p:spPr>
          <a:xfrm>
            <a:off x="758666" y="2243852"/>
            <a:ext cx="3478887"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Full-Stack Implementation</a:t>
            </a: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758666" y="2706886"/>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Successfully built a complete MVC portal using modern .NET technologies and best practices</a:t>
            </a:r>
            <a:endParaRPr lang="en-US" sz="1700" dirty="0">
              <a:latin typeface="Times New Roman" panose="02020603050405020304" pitchFamily="18" charset="0"/>
              <a:cs typeface="Times New Roman" panose="02020603050405020304" pitchFamily="18" charset="0"/>
            </a:endParaRPr>
          </a:p>
        </p:txBody>
      </p:sp>
      <p:sp>
        <p:nvSpPr>
          <p:cNvPr id="7" name="Text 5"/>
          <p:cNvSpPr/>
          <p:nvPr/>
        </p:nvSpPr>
        <p:spPr>
          <a:xfrm>
            <a:off x="7418784" y="1736527"/>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02</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7418784" y="2074545"/>
            <a:ext cx="6452949" cy="30480"/>
          </a:xfrm>
          <a:prstGeom prst="rect">
            <a:avLst/>
          </a:prstGeom>
          <a:solidFill>
            <a:srgbClr val="4950BC"/>
          </a:solidFill>
          <a:ln/>
        </p:spPr>
      </p:sp>
      <p:sp>
        <p:nvSpPr>
          <p:cNvPr id="9" name="Text 7"/>
          <p:cNvSpPr/>
          <p:nvPr/>
        </p:nvSpPr>
        <p:spPr>
          <a:xfrm>
            <a:off x="7418784" y="2243852"/>
            <a:ext cx="2890718"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Architectural Mastery</a:t>
            </a:r>
            <a:endParaRPr lang="en-US" sz="2100" dirty="0">
              <a:latin typeface="Times New Roman" panose="02020603050405020304" pitchFamily="18" charset="0"/>
              <a:cs typeface="Times New Roman" panose="02020603050405020304" pitchFamily="18" charset="0"/>
            </a:endParaRPr>
          </a:p>
        </p:txBody>
      </p:sp>
      <p:sp>
        <p:nvSpPr>
          <p:cNvPr id="10" name="Text 8"/>
          <p:cNvSpPr/>
          <p:nvPr/>
        </p:nvSpPr>
        <p:spPr>
          <a:xfrm>
            <a:off x="7418784" y="2706886"/>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Applied Clean Architecture principles to achieve separation of concerns and maintainability</a:t>
            </a:r>
            <a:endParaRPr lang="en-US" sz="1700" dirty="0">
              <a:latin typeface="Times New Roman" panose="02020603050405020304" pitchFamily="18" charset="0"/>
              <a:cs typeface="Times New Roman" panose="02020603050405020304" pitchFamily="18" charset="0"/>
            </a:endParaRPr>
          </a:p>
        </p:txBody>
      </p:sp>
      <p:sp>
        <p:nvSpPr>
          <p:cNvPr id="11" name="Text 9"/>
          <p:cNvSpPr/>
          <p:nvPr/>
        </p:nvSpPr>
        <p:spPr>
          <a:xfrm>
            <a:off x="758666" y="3754993"/>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03</a:t>
            </a:r>
            <a:endParaRPr lang="en-US" sz="1700" dirty="0">
              <a:latin typeface="Times New Roman" panose="02020603050405020304" pitchFamily="18" charset="0"/>
              <a:cs typeface="Times New Roman" panose="02020603050405020304" pitchFamily="18" charset="0"/>
            </a:endParaRPr>
          </a:p>
        </p:txBody>
      </p:sp>
      <p:sp>
        <p:nvSpPr>
          <p:cNvPr id="12" name="Shape 10"/>
          <p:cNvSpPr/>
          <p:nvPr/>
        </p:nvSpPr>
        <p:spPr>
          <a:xfrm>
            <a:off x="758666" y="4093012"/>
            <a:ext cx="6452949" cy="30480"/>
          </a:xfrm>
          <a:prstGeom prst="rect">
            <a:avLst/>
          </a:prstGeom>
          <a:solidFill>
            <a:srgbClr val="4950BC"/>
          </a:solidFill>
          <a:ln/>
        </p:spPr>
      </p:sp>
      <p:sp>
        <p:nvSpPr>
          <p:cNvPr id="13" name="Text 11"/>
          <p:cNvSpPr/>
          <p:nvPr/>
        </p:nvSpPr>
        <p:spPr>
          <a:xfrm>
            <a:off x="758666" y="4262318"/>
            <a:ext cx="3562945"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Data Persistence Expertise</a:t>
            </a:r>
            <a:endParaRPr lang="en-US" sz="2100" dirty="0">
              <a:latin typeface="Times New Roman" panose="02020603050405020304" pitchFamily="18" charset="0"/>
              <a:cs typeface="Times New Roman" panose="02020603050405020304" pitchFamily="18" charset="0"/>
            </a:endParaRPr>
          </a:p>
        </p:txBody>
      </p:sp>
      <p:sp>
        <p:nvSpPr>
          <p:cNvPr id="14" name="Text 12"/>
          <p:cNvSpPr/>
          <p:nvPr/>
        </p:nvSpPr>
        <p:spPr>
          <a:xfrm>
            <a:off x="758666" y="4725353"/>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Gained hands-on experience with Entity Framework Core for database operations</a:t>
            </a:r>
            <a:endParaRPr lang="en-US" sz="1700" dirty="0">
              <a:latin typeface="Times New Roman" panose="02020603050405020304" pitchFamily="18" charset="0"/>
              <a:cs typeface="Times New Roman" panose="02020603050405020304" pitchFamily="18" charset="0"/>
            </a:endParaRPr>
          </a:p>
        </p:txBody>
      </p:sp>
      <p:sp>
        <p:nvSpPr>
          <p:cNvPr id="15" name="Text 13"/>
          <p:cNvSpPr/>
          <p:nvPr/>
        </p:nvSpPr>
        <p:spPr>
          <a:xfrm>
            <a:off x="7418784" y="3754993"/>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04</a:t>
            </a:r>
            <a:endParaRPr lang="en-US" sz="1700" dirty="0">
              <a:latin typeface="Times New Roman" panose="02020603050405020304" pitchFamily="18" charset="0"/>
              <a:cs typeface="Times New Roman" panose="02020603050405020304" pitchFamily="18" charset="0"/>
            </a:endParaRPr>
          </a:p>
        </p:txBody>
      </p:sp>
      <p:sp>
        <p:nvSpPr>
          <p:cNvPr id="16" name="Shape 14"/>
          <p:cNvSpPr/>
          <p:nvPr/>
        </p:nvSpPr>
        <p:spPr>
          <a:xfrm>
            <a:off x="7418784" y="4093012"/>
            <a:ext cx="6452949" cy="30480"/>
          </a:xfrm>
          <a:prstGeom prst="rect">
            <a:avLst/>
          </a:prstGeom>
          <a:solidFill>
            <a:srgbClr val="4950BC"/>
          </a:solidFill>
          <a:ln/>
        </p:spPr>
      </p:sp>
      <p:sp>
        <p:nvSpPr>
          <p:cNvPr id="17" name="Text 15"/>
          <p:cNvSpPr/>
          <p:nvPr/>
        </p:nvSpPr>
        <p:spPr>
          <a:xfrm>
            <a:off x="7418784" y="4262318"/>
            <a:ext cx="3255050"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Security Implementation</a:t>
            </a:r>
            <a:endParaRPr lang="en-US" sz="2100" dirty="0">
              <a:latin typeface="Times New Roman" panose="02020603050405020304" pitchFamily="18" charset="0"/>
              <a:cs typeface="Times New Roman" panose="02020603050405020304" pitchFamily="18" charset="0"/>
            </a:endParaRPr>
          </a:p>
        </p:txBody>
      </p:sp>
      <p:sp>
        <p:nvSpPr>
          <p:cNvPr id="18" name="Text 16"/>
          <p:cNvSpPr/>
          <p:nvPr/>
        </p:nvSpPr>
        <p:spPr>
          <a:xfrm>
            <a:off x="7418784" y="4725353"/>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Integrated ASP.NET Identity for robust authentication and authorization</a:t>
            </a:r>
            <a:endParaRPr lang="en-US" sz="1700" dirty="0">
              <a:latin typeface="Times New Roman" panose="02020603050405020304" pitchFamily="18" charset="0"/>
              <a:cs typeface="Times New Roman" panose="02020603050405020304" pitchFamily="18" charset="0"/>
            </a:endParaRPr>
          </a:p>
        </p:txBody>
      </p:sp>
      <p:sp>
        <p:nvSpPr>
          <p:cNvPr id="19" name="Text 17"/>
          <p:cNvSpPr/>
          <p:nvPr/>
        </p:nvSpPr>
        <p:spPr>
          <a:xfrm>
            <a:off x="758666" y="5773460"/>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05</a:t>
            </a:r>
            <a:endParaRPr lang="en-US" sz="1700" dirty="0">
              <a:latin typeface="Times New Roman" panose="02020603050405020304" pitchFamily="18" charset="0"/>
              <a:cs typeface="Times New Roman" panose="02020603050405020304" pitchFamily="18" charset="0"/>
            </a:endParaRPr>
          </a:p>
        </p:txBody>
      </p:sp>
      <p:sp>
        <p:nvSpPr>
          <p:cNvPr id="20" name="Shape 18"/>
          <p:cNvSpPr/>
          <p:nvPr/>
        </p:nvSpPr>
        <p:spPr>
          <a:xfrm>
            <a:off x="758666" y="6111478"/>
            <a:ext cx="6452949" cy="30480"/>
          </a:xfrm>
          <a:prstGeom prst="rect">
            <a:avLst/>
          </a:prstGeom>
          <a:solidFill>
            <a:srgbClr val="4950BC"/>
          </a:solidFill>
          <a:ln/>
        </p:spPr>
      </p:sp>
      <p:sp>
        <p:nvSpPr>
          <p:cNvPr id="21" name="Text 19"/>
          <p:cNvSpPr/>
          <p:nvPr/>
        </p:nvSpPr>
        <p:spPr>
          <a:xfrm>
            <a:off x="758666" y="6280785"/>
            <a:ext cx="2709863"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RESTful API Design</a:t>
            </a:r>
            <a:endParaRPr lang="en-US" sz="2100" dirty="0">
              <a:latin typeface="Times New Roman" panose="02020603050405020304" pitchFamily="18" charset="0"/>
              <a:cs typeface="Times New Roman" panose="02020603050405020304" pitchFamily="18" charset="0"/>
            </a:endParaRPr>
          </a:p>
        </p:txBody>
      </p:sp>
      <p:sp>
        <p:nvSpPr>
          <p:cNvPr id="22" name="Text 20"/>
          <p:cNvSpPr/>
          <p:nvPr/>
        </p:nvSpPr>
        <p:spPr>
          <a:xfrm>
            <a:off x="758666" y="6743819"/>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Developed understanding of RESTful patterns and MVC architectural principles</a:t>
            </a:r>
            <a:endParaRPr lang="en-US" sz="1700" dirty="0">
              <a:latin typeface="Times New Roman" panose="02020603050405020304" pitchFamily="18" charset="0"/>
              <a:cs typeface="Times New Roman" panose="02020603050405020304" pitchFamily="18" charset="0"/>
            </a:endParaRPr>
          </a:p>
        </p:txBody>
      </p:sp>
      <p:sp>
        <p:nvSpPr>
          <p:cNvPr id="23" name="Text 21"/>
          <p:cNvSpPr/>
          <p:nvPr/>
        </p:nvSpPr>
        <p:spPr>
          <a:xfrm>
            <a:off x="7418784" y="5773460"/>
            <a:ext cx="216694" cy="270986"/>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Light" pitchFamily="34" charset="-122"/>
                <a:cs typeface="Times New Roman" panose="02020603050405020304" pitchFamily="18" charset="0"/>
              </a:rPr>
              <a:t>06</a:t>
            </a:r>
            <a:endParaRPr lang="en-US" sz="1700" dirty="0">
              <a:latin typeface="Times New Roman" panose="02020603050405020304" pitchFamily="18" charset="0"/>
              <a:cs typeface="Times New Roman" panose="02020603050405020304" pitchFamily="18" charset="0"/>
            </a:endParaRPr>
          </a:p>
        </p:txBody>
      </p:sp>
      <p:sp>
        <p:nvSpPr>
          <p:cNvPr id="24" name="Shape 22"/>
          <p:cNvSpPr/>
          <p:nvPr/>
        </p:nvSpPr>
        <p:spPr>
          <a:xfrm>
            <a:off x="7418784" y="6111478"/>
            <a:ext cx="6452949" cy="30480"/>
          </a:xfrm>
          <a:prstGeom prst="rect">
            <a:avLst/>
          </a:prstGeom>
          <a:solidFill>
            <a:srgbClr val="4950BC"/>
          </a:solidFill>
          <a:ln/>
        </p:spPr>
      </p:sp>
      <p:sp>
        <p:nvSpPr>
          <p:cNvPr id="25" name="Text 23"/>
          <p:cNvSpPr/>
          <p:nvPr/>
        </p:nvSpPr>
        <p:spPr>
          <a:xfrm>
            <a:off x="7418784" y="6280785"/>
            <a:ext cx="3215164" cy="338733"/>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Real-World Applicability</a:t>
            </a:r>
            <a:endParaRPr lang="en-US" sz="2100" dirty="0">
              <a:latin typeface="Times New Roman" panose="02020603050405020304" pitchFamily="18" charset="0"/>
              <a:cs typeface="Times New Roman" panose="02020603050405020304" pitchFamily="18" charset="0"/>
            </a:endParaRPr>
          </a:p>
        </p:txBody>
      </p:sp>
      <p:sp>
        <p:nvSpPr>
          <p:cNvPr id="26" name="Text 24"/>
          <p:cNvSpPr/>
          <p:nvPr/>
        </p:nvSpPr>
        <p:spPr>
          <a:xfrm>
            <a:off x="7418784" y="6743819"/>
            <a:ext cx="6452949" cy="67841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Times New Roman" panose="02020603050405020304" pitchFamily="18" charset="0"/>
                <a:ea typeface="Inter" pitchFamily="34" charset="-122"/>
                <a:cs typeface="Times New Roman" panose="02020603050405020304" pitchFamily="18" charset="0"/>
              </a:rPr>
              <a:t>Created a production-ready solution demonstrating practical university internship management</a:t>
            </a:r>
            <a:endParaRPr lang="en-US" sz="1700" dirty="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0993C9E8-77A5-63D3-15EC-3F8E51CFCCB2}"/>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91527"/>
            <a:ext cx="7556421" cy="1417677"/>
          </a:xfrm>
          <a:prstGeom prst="rect">
            <a:avLst/>
          </a:prstGeom>
          <a:noFill/>
          <a:ln/>
        </p:spPr>
        <p:txBody>
          <a:bodyPr wrap="none" lIns="0" tIns="0" rIns="0" bIns="0" rtlCol="0" anchor="t"/>
          <a:lstStyle/>
          <a:p>
            <a:pPr marL="0" indent="0" algn="l">
              <a:lnSpc>
                <a:spcPts val="11150"/>
              </a:lnSpc>
              <a:buNone/>
            </a:pPr>
            <a:r>
              <a:rPr lang="en-US" sz="8900" b="1" dirty="0">
                <a:solidFill>
                  <a:srgbClr val="4950BC"/>
                </a:solidFill>
                <a:latin typeface="Times New Roman" panose="02020603050405020304" pitchFamily="18" charset="0"/>
                <a:ea typeface="Inter Bold" pitchFamily="34" charset="-122"/>
                <a:cs typeface="Times New Roman" panose="02020603050405020304" pitchFamily="18" charset="0"/>
              </a:rPr>
              <a:t>Thank You</a:t>
            </a:r>
            <a:endParaRPr lang="en-US" sz="8900" dirty="0">
              <a:latin typeface="Times New Roman" panose="02020603050405020304" pitchFamily="18" charset="0"/>
              <a:cs typeface="Times New Roman" panose="02020603050405020304" pitchFamily="18" charset="0"/>
            </a:endParaRPr>
          </a:p>
        </p:txBody>
      </p:sp>
      <p:sp>
        <p:nvSpPr>
          <p:cNvPr id="4" name="Text 1"/>
          <p:cNvSpPr/>
          <p:nvPr/>
        </p:nvSpPr>
        <p:spPr>
          <a:xfrm>
            <a:off x="6280190" y="4449366"/>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For your time and consideration. This internship management portal represents a comprehensive application of modern web development principles using the .NET ecosystem.</a:t>
            </a:r>
            <a:endParaRPr lang="en-US" sz="175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348187B-B1CE-8CC2-72CD-9F51D1629BD7}"/>
              </a:ext>
            </a:extLst>
          </p:cNvPr>
          <p:cNvSpPr/>
          <p:nvPr/>
        </p:nvSpPr>
        <p:spPr>
          <a:xfrm>
            <a:off x="0" y="7791930"/>
            <a:ext cx="14630400" cy="4376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359</Words>
  <Application>Microsoft Office PowerPoint</Application>
  <PresentationFormat>Custom</PresentationFormat>
  <Paragraphs>65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Kasak Masrani</cp:lastModifiedBy>
  <cp:revision>9</cp:revision>
  <dcterms:created xsi:type="dcterms:W3CDTF">2026-03-14T17:31:51Z</dcterms:created>
  <dcterms:modified xsi:type="dcterms:W3CDTF">2026-05-25T07:19:00Z</dcterms:modified>
</cp:coreProperties>
</file>